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4FF"/>
          </a:solidFill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4" name="Shape 2"/>
          <p:cNvSpPr/>
          <p:nvPr/>
        </p:nvSpPr>
        <p:spPr>
          <a:xfrm>
            <a:off x="6263640" y="91440"/>
            <a:ext cx="2834640" cy="621792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5" name="Text 3"/>
          <p:cNvSpPr/>
          <p:nvPr/>
        </p:nvSpPr>
        <p:spPr>
          <a:xfrm>
            <a:off x="6263640" y="91440"/>
            <a:ext cx="2834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Application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263640" y="786384"/>
            <a:ext cx="2834640" cy="621792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7" name="Text 5"/>
          <p:cNvSpPr/>
          <p:nvPr/>
        </p:nvSpPr>
        <p:spPr>
          <a:xfrm>
            <a:off x="6263640" y="786384"/>
            <a:ext cx="2834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Presentation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63640" y="1481328"/>
            <a:ext cx="2834640" cy="621792"/>
          </a:xfrm>
          <a:prstGeom prst="rect">
            <a:avLst/>
          </a:prstGeom>
          <a:solidFill>
            <a:srgbClr val="E9C46A"/>
          </a:solidFill>
        </p:spPr>
      </p:sp>
      <p:sp>
        <p:nvSpPr>
          <p:cNvPr id="9" name="Text 7"/>
          <p:cNvSpPr/>
          <p:nvPr/>
        </p:nvSpPr>
        <p:spPr>
          <a:xfrm>
            <a:off x="6263640" y="1481328"/>
            <a:ext cx="2834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Session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63640" y="2176272"/>
            <a:ext cx="2834640" cy="621792"/>
          </a:xfrm>
          <a:prstGeom prst="rect">
            <a:avLst/>
          </a:prstGeom>
          <a:solidFill>
            <a:srgbClr val="2A9D8F"/>
          </a:solidFill>
        </p:spPr>
      </p:sp>
      <p:sp>
        <p:nvSpPr>
          <p:cNvPr id="11" name="Text 9"/>
          <p:cNvSpPr/>
          <p:nvPr/>
        </p:nvSpPr>
        <p:spPr>
          <a:xfrm>
            <a:off x="6263640" y="2176272"/>
            <a:ext cx="2834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Transport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2871216"/>
            <a:ext cx="2834640" cy="621792"/>
          </a:xfrm>
          <a:prstGeom prst="rect">
            <a:avLst/>
          </a:prstGeom>
          <a:solidFill>
            <a:srgbClr val="457B9D"/>
          </a:solidFill>
        </p:spPr>
      </p:sp>
      <p:sp>
        <p:nvSpPr>
          <p:cNvPr id="13" name="Text 11"/>
          <p:cNvSpPr/>
          <p:nvPr/>
        </p:nvSpPr>
        <p:spPr>
          <a:xfrm>
            <a:off x="6263640" y="2871216"/>
            <a:ext cx="2834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Network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63640" y="3566160"/>
            <a:ext cx="2834640" cy="621792"/>
          </a:xfrm>
          <a:prstGeom prst="rect">
            <a:avLst/>
          </a:prstGeom>
          <a:solidFill>
            <a:srgbClr val="1D3557"/>
          </a:solidFill>
        </p:spPr>
      </p:sp>
      <p:sp>
        <p:nvSpPr>
          <p:cNvPr id="15" name="Text 13"/>
          <p:cNvSpPr/>
          <p:nvPr/>
        </p:nvSpPr>
        <p:spPr>
          <a:xfrm>
            <a:off x="6263640" y="3566160"/>
            <a:ext cx="2834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Data Link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4261104"/>
            <a:ext cx="2834640" cy="621792"/>
          </a:xfrm>
          <a:prstGeom prst="rect">
            <a:avLst/>
          </a:prstGeom>
          <a:solidFill>
            <a:srgbClr val="6A0572"/>
          </a:solidFill>
        </p:spPr>
      </p:sp>
      <p:sp>
        <p:nvSpPr>
          <p:cNvPr id="17" name="Text 15"/>
          <p:cNvSpPr/>
          <p:nvPr/>
        </p:nvSpPr>
        <p:spPr>
          <a:xfrm>
            <a:off x="6263640" y="4261104"/>
            <a:ext cx="28346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Physical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400" dirty="0">
                <a:solidFill>
                  <a:srgbClr val="00C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OSI MODEL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457200" y="1463040"/>
            <a:ext cx="5577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COMPUTER NETWORKING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2057400"/>
            <a:ext cx="5303520" cy="36576"/>
          </a:xfrm>
          <a:prstGeom prst="rect">
            <a:avLst/>
          </a:prstGeom>
          <a:solidFill>
            <a:srgbClr val="00C4FF"/>
          </a:solidFill>
        </p:spPr>
      </p:sp>
      <p:sp>
        <p:nvSpPr>
          <p:cNvPr id="21" name="Text 19"/>
          <p:cNvSpPr/>
          <p:nvPr/>
        </p:nvSpPr>
        <p:spPr>
          <a:xfrm>
            <a:off x="457200" y="224028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Subject: Computer Networking  |  Department: Computer Science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256032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Year: 2024–25  |  Batch: COSC-2024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2971800"/>
            <a:ext cx="5577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MEMBERS: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291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COSC241122211  •  Danish Ali  (Group Leader)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611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COSC241122249  •  Saeed Husain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3931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COSC241122245  •  M. Zeshan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4251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COSC241122233  •  M. Bilal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572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COSC241122212  •  Danyal Safdar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274320" y="1051560"/>
            <a:ext cx="502920" cy="5029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274320" y="1051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051560"/>
            <a:ext cx="5760720" cy="50292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OSI Model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0" y="1051560"/>
            <a:ext cx="2103120" cy="502920"/>
          </a:xfrm>
          <a:prstGeom prst="rect">
            <a:avLst/>
          </a:prstGeom>
          <a:noFill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Danish Ali  (Group Leader)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8595360" cy="502920"/>
          </a:xfrm>
          <a:prstGeom prst="rect">
            <a:avLst/>
          </a:prstGeom>
          <a:solidFill>
            <a:srgbClr val="EEF3FF"/>
          </a:solidFill>
        </p:spPr>
      </p:sp>
      <p:sp>
        <p:nvSpPr>
          <p:cNvPr id="10" name="Shape 8"/>
          <p:cNvSpPr/>
          <p:nvPr/>
        </p:nvSpPr>
        <p:spPr>
          <a:xfrm>
            <a:off x="274320" y="1627632"/>
            <a:ext cx="502920" cy="5029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274320" y="16276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627632"/>
            <a:ext cx="5760720" cy="50292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&amp; Data Link Layer (L1–L2)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75120" y="1627632"/>
            <a:ext cx="2103120" cy="502920"/>
          </a:xfrm>
          <a:prstGeom prst="rect">
            <a:avLst/>
          </a:prstGeom>
          <a:noFill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Danish Ali  (Group Leader)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03704"/>
            <a:ext cx="859536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Shape 13"/>
          <p:cNvSpPr/>
          <p:nvPr/>
        </p:nvSpPr>
        <p:spPr>
          <a:xfrm>
            <a:off x="274320" y="2203704"/>
            <a:ext cx="502920" cy="5029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274320" y="220370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203704"/>
            <a:ext cx="5760720" cy="50292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&amp; Transport Layer (L3–L4)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0" y="2203704"/>
            <a:ext cx="2103120" cy="502920"/>
          </a:xfrm>
          <a:prstGeom prst="rect">
            <a:avLst/>
          </a:prstGeom>
          <a:noFill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Saeed Husain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8595360" cy="502920"/>
          </a:xfrm>
          <a:prstGeom prst="rect">
            <a:avLst/>
          </a:prstGeom>
          <a:solidFill>
            <a:srgbClr val="EEF3FF"/>
          </a:solidFill>
        </p:spPr>
      </p:sp>
      <p:sp>
        <p:nvSpPr>
          <p:cNvPr id="20" name="Shape 18"/>
          <p:cNvSpPr/>
          <p:nvPr/>
        </p:nvSpPr>
        <p:spPr>
          <a:xfrm>
            <a:off x="274320" y="2779776"/>
            <a:ext cx="502920" cy="5029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274320" y="277977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2779776"/>
            <a:ext cx="5760720" cy="50292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&amp; Presentation Layer (L5–L6)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75120" y="2779776"/>
            <a:ext cx="2103120" cy="502920"/>
          </a:xfrm>
          <a:prstGeom prst="rect">
            <a:avLst/>
          </a:prstGeom>
          <a:noFill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 Zeshan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55848"/>
            <a:ext cx="859536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Shape 23"/>
          <p:cNvSpPr/>
          <p:nvPr/>
        </p:nvSpPr>
        <p:spPr>
          <a:xfrm>
            <a:off x="274320" y="3355848"/>
            <a:ext cx="502920" cy="5029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6" name="Text 24"/>
          <p:cNvSpPr/>
          <p:nvPr/>
        </p:nvSpPr>
        <p:spPr>
          <a:xfrm>
            <a:off x="274320" y="33558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3355848"/>
            <a:ext cx="5760720" cy="50292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Layer (L7)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75120" y="3355848"/>
            <a:ext cx="2103120" cy="502920"/>
          </a:xfrm>
          <a:prstGeom prst="rect">
            <a:avLst/>
          </a:prstGeom>
          <a:noFill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 Bilal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931920"/>
            <a:ext cx="8595360" cy="502920"/>
          </a:xfrm>
          <a:prstGeom prst="rect">
            <a:avLst/>
          </a:prstGeom>
          <a:solidFill>
            <a:srgbClr val="EEF3FF"/>
          </a:solidFill>
        </p:spPr>
      </p:sp>
      <p:sp>
        <p:nvSpPr>
          <p:cNvPr id="30" name="Shape 28"/>
          <p:cNvSpPr/>
          <p:nvPr/>
        </p:nvSpPr>
        <p:spPr>
          <a:xfrm>
            <a:off x="274320" y="3931920"/>
            <a:ext cx="502920" cy="5029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1" name="Text 29"/>
          <p:cNvSpPr/>
          <p:nvPr/>
        </p:nvSpPr>
        <p:spPr>
          <a:xfrm>
            <a:off x="274320" y="3931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3931920"/>
            <a:ext cx="5760720" cy="50292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OSI vs TCP/IP  +  Real-World Use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675120" y="3931920"/>
            <a:ext cx="2103120" cy="502920"/>
          </a:xfrm>
          <a:prstGeom prst="rect">
            <a:avLst/>
          </a:prstGeom>
          <a:noFill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Danyal Safdar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507992"/>
            <a:ext cx="8595360" cy="5029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5" name="Shape 33"/>
          <p:cNvSpPr/>
          <p:nvPr/>
        </p:nvSpPr>
        <p:spPr>
          <a:xfrm>
            <a:off x="274320" y="4507992"/>
            <a:ext cx="502920" cy="5029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6" name="Text 34"/>
          <p:cNvSpPr/>
          <p:nvPr/>
        </p:nvSpPr>
        <p:spPr>
          <a:xfrm>
            <a:off x="274320" y="45079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8680" y="4507992"/>
            <a:ext cx="5760720" cy="50292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&amp; Conclusion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675120" y="4507992"/>
            <a:ext cx="2103120" cy="502920"/>
          </a:xfrm>
          <a:prstGeom prst="rect">
            <a:avLst/>
          </a:prstGeom>
          <a:noFill/>
        </p:spPr>
        <p:txBody>
          <a:bodyPr wrap="square" lIns="0" tIns="0" rIns="10160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Members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OSI MODEL?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Danish Ali  (Group Leader)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097280"/>
          </a:xfrm>
          <a:prstGeom prst="rect">
            <a:avLst/>
          </a:prstGeom>
          <a:solidFill>
            <a:srgbClr val="EEF3FF"/>
          </a:solidFill>
        </p:spPr>
      </p:sp>
      <p:sp>
        <p:nvSpPr>
          <p:cNvPr id="6" name="Shape 4"/>
          <p:cNvSpPr/>
          <p:nvPr/>
        </p:nvSpPr>
        <p:spPr>
          <a:xfrm>
            <a:off x="274320" y="960120"/>
            <a:ext cx="109728" cy="1097280"/>
          </a:xfrm>
          <a:prstGeom prst="rect">
            <a:avLst/>
          </a:prstGeom>
          <a:solidFill>
            <a:srgbClr val="00C4FF"/>
          </a:solidFill>
        </p:spPr>
      </p:sp>
      <p:sp>
        <p:nvSpPr>
          <p:cNvPr id="7" name="Text 5"/>
          <p:cNvSpPr/>
          <p:nvPr/>
        </p:nvSpPr>
        <p:spPr>
          <a:xfrm>
            <a:off x="502920" y="9875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07592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Open Systems Interconnection (OSI) Model is a conceptual framework developed by ISO in 1984. It divides network communication into 7 distinct layers, each responsible for specific tasks, enabling interoperability between different vendors and technologies.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4206240" cy="1143000"/>
          </a:xfrm>
          <a:prstGeom prst="rect">
            <a:avLst/>
          </a:prstGeom>
          <a:solidFill>
            <a:srgbClr val="F0F4FF"/>
          </a:solidFill>
        </p:spPr>
      </p:sp>
      <p:sp>
        <p:nvSpPr>
          <p:cNvPr id="10" name="Shape 8"/>
          <p:cNvSpPr/>
          <p:nvPr/>
        </p:nvSpPr>
        <p:spPr>
          <a:xfrm>
            <a:off x="274320" y="2240280"/>
            <a:ext cx="4206240" cy="7315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411480" y="235000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69748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 communication between heterogeneous network systems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4206240" cy="1143000"/>
          </a:xfrm>
          <a:prstGeom prst="rect">
            <a:avLst/>
          </a:prstGeom>
          <a:solidFill>
            <a:srgbClr val="F0F4FF"/>
          </a:solidFill>
        </p:spPr>
      </p:sp>
      <p:sp>
        <p:nvSpPr>
          <p:cNvPr id="14" name="Shape 12"/>
          <p:cNvSpPr/>
          <p:nvPr/>
        </p:nvSpPr>
        <p:spPr>
          <a:xfrm>
            <a:off x="4709160" y="2240280"/>
            <a:ext cx="4206240" cy="7315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4846320" y="235000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📅  Developed by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69748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ISO (International Organization for Standardization) – 1984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520440"/>
            <a:ext cx="4206240" cy="1143000"/>
          </a:xfrm>
          <a:prstGeom prst="rect">
            <a:avLst/>
          </a:prstGeom>
          <a:solidFill>
            <a:srgbClr val="F0F4FF"/>
          </a:solidFill>
        </p:spPr>
      </p:sp>
      <p:sp>
        <p:nvSpPr>
          <p:cNvPr id="18" name="Shape 16"/>
          <p:cNvSpPr/>
          <p:nvPr/>
        </p:nvSpPr>
        <p:spPr>
          <a:xfrm>
            <a:off x="274320" y="3520440"/>
            <a:ext cx="4206240" cy="7315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411480" y="363016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🔢  Layers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97764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Layers — from Physical (hardware) to Application (software)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3520440"/>
            <a:ext cx="4206240" cy="1143000"/>
          </a:xfrm>
          <a:prstGeom prst="rect">
            <a:avLst/>
          </a:prstGeom>
          <a:solidFill>
            <a:srgbClr val="F0F4FF"/>
          </a:solidFill>
        </p:spPr>
      </p:sp>
      <p:sp>
        <p:nvSpPr>
          <p:cNvPr id="22" name="Shape 20"/>
          <p:cNvSpPr/>
          <p:nvPr/>
        </p:nvSpPr>
        <p:spPr>
          <a:xfrm>
            <a:off x="4709160" y="3520440"/>
            <a:ext cx="4206240" cy="7315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3" name="Text 21"/>
          <p:cNvSpPr/>
          <p:nvPr/>
        </p:nvSpPr>
        <p:spPr>
          <a:xfrm>
            <a:off x="4846320" y="363016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Mnemonic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97764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"Please Do Not Throw Sausage Pizza Away" (L1 → L7)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1B47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OSI MODEL — 7 LAYERS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548640" cy="530352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5" name="Text 3"/>
          <p:cNvSpPr/>
          <p:nvPr/>
        </p:nvSpPr>
        <p:spPr>
          <a:xfrm>
            <a:off x="228600" y="914400"/>
            <a:ext cx="548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914400"/>
            <a:ext cx="1645920" cy="530352"/>
          </a:xfrm>
          <a:prstGeom prst="rect">
            <a:avLst/>
          </a:prstGeom>
          <a:solidFill>
            <a:srgbClr val="E63946">
              <a:alpha val="8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77240" y="914400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3200400" cy="530352"/>
          </a:xfrm>
          <a:prstGeom prst="rect">
            <a:avLst/>
          </a:prstGeom>
          <a:solidFill>
            <a:srgbClr val="F5F7FF"/>
          </a:solidFill>
        </p:spPr>
      </p:sp>
      <p:sp>
        <p:nvSpPr>
          <p:cNvPr id="9" name="Text 7"/>
          <p:cNvSpPr/>
          <p:nvPr/>
        </p:nvSpPr>
        <p:spPr>
          <a:xfrm>
            <a:off x="2514600" y="914400"/>
            <a:ext cx="30175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HTTP, FTP, DNS, SMTP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23560" y="914400"/>
            <a:ext cx="3291840" cy="530352"/>
          </a:xfrm>
          <a:prstGeom prst="rect">
            <a:avLst/>
          </a:prstGeom>
          <a:solidFill>
            <a:srgbClr val="EAEEF8"/>
          </a:solidFill>
        </p:spPr>
      </p:sp>
      <p:sp>
        <p:nvSpPr>
          <p:cNvPr id="11" name="Text 9"/>
          <p:cNvSpPr/>
          <p:nvPr/>
        </p:nvSpPr>
        <p:spPr>
          <a:xfrm>
            <a:off x="5715000" y="914400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User-facing protocols &amp; services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1508760"/>
            <a:ext cx="548640" cy="530352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13" name="Text 11"/>
          <p:cNvSpPr/>
          <p:nvPr/>
        </p:nvSpPr>
        <p:spPr>
          <a:xfrm>
            <a:off x="228600" y="1508760"/>
            <a:ext cx="548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" y="1508760"/>
            <a:ext cx="1645920" cy="530352"/>
          </a:xfrm>
          <a:prstGeom prst="rect">
            <a:avLst/>
          </a:prstGeom>
          <a:solidFill>
            <a:srgbClr val="F4A261">
              <a:alpha val="8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777240" y="1508760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23160" y="1508760"/>
            <a:ext cx="3200400" cy="530352"/>
          </a:xfrm>
          <a:prstGeom prst="rect">
            <a:avLst/>
          </a:prstGeom>
          <a:solidFill>
            <a:srgbClr val="ECEEF8"/>
          </a:solidFill>
        </p:spPr>
      </p:sp>
      <p:sp>
        <p:nvSpPr>
          <p:cNvPr id="17" name="Text 15"/>
          <p:cNvSpPr/>
          <p:nvPr/>
        </p:nvSpPr>
        <p:spPr>
          <a:xfrm>
            <a:off x="2514600" y="1508760"/>
            <a:ext cx="30175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SSL/TLS, JPEG, ASCII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23560" y="1508760"/>
            <a:ext cx="3291840" cy="530352"/>
          </a:xfrm>
          <a:prstGeom prst="rect">
            <a:avLst/>
          </a:prstGeom>
          <a:solidFill>
            <a:srgbClr val="F0F4FF"/>
          </a:solidFill>
        </p:spPr>
      </p:sp>
      <p:sp>
        <p:nvSpPr>
          <p:cNvPr id="19" name="Text 17"/>
          <p:cNvSpPr/>
          <p:nvPr/>
        </p:nvSpPr>
        <p:spPr>
          <a:xfrm>
            <a:off x="5715000" y="1508760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translation, encryption, compression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2103120"/>
            <a:ext cx="548640" cy="530352"/>
          </a:xfrm>
          <a:prstGeom prst="rect">
            <a:avLst/>
          </a:prstGeom>
          <a:solidFill>
            <a:srgbClr val="E9C46A"/>
          </a:solidFill>
        </p:spPr>
      </p:sp>
      <p:sp>
        <p:nvSpPr>
          <p:cNvPr id="21" name="Text 19"/>
          <p:cNvSpPr/>
          <p:nvPr/>
        </p:nvSpPr>
        <p:spPr>
          <a:xfrm>
            <a:off x="228600" y="2103120"/>
            <a:ext cx="548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77240" y="2103120"/>
            <a:ext cx="1645920" cy="530352"/>
          </a:xfrm>
          <a:prstGeom prst="rect">
            <a:avLst/>
          </a:prstGeom>
          <a:solidFill>
            <a:srgbClr val="E9C46A">
              <a:alpha val="80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777240" y="2103120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23160" y="2103120"/>
            <a:ext cx="3200400" cy="530352"/>
          </a:xfrm>
          <a:prstGeom prst="rect">
            <a:avLst/>
          </a:prstGeom>
          <a:solidFill>
            <a:srgbClr val="F5F7FF"/>
          </a:solidFill>
        </p:spPr>
      </p:sp>
      <p:sp>
        <p:nvSpPr>
          <p:cNvPr id="25" name="Text 23"/>
          <p:cNvSpPr/>
          <p:nvPr/>
        </p:nvSpPr>
        <p:spPr>
          <a:xfrm>
            <a:off x="2514600" y="2103120"/>
            <a:ext cx="30175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NetBIOS, RPC, PPTP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23560" y="2103120"/>
            <a:ext cx="3291840" cy="530352"/>
          </a:xfrm>
          <a:prstGeom prst="rect">
            <a:avLst/>
          </a:prstGeom>
          <a:solidFill>
            <a:srgbClr val="EAEEF8"/>
          </a:solidFill>
        </p:spPr>
      </p:sp>
      <p:sp>
        <p:nvSpPr>
          <p:cNvPr id="27" name="Text 25"/>
          <p:cNvSpPr/>
          <p:nvPr/>
        </p:nvSpPr>
        <p:spPr>
          <a:xfrm>
            <a:off x="5715000" y="2103120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management &amp; synchronization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2697480"/>
            <a:ext cx="548640" cy="530352"/>
          </a:xfrm>
          <a:prstGeom prst="rect">
            <a:avLst/>
          </a:prstGeom>
          <a:solidFill>
            <a:srgbClr val="2A9D8F"/>
          </a:solidFill>
        </p:spPr>
      </p:sp>
      <p:sp>
        <p:nvSpPr>
          <p:cNvPr id="29" name="Text 27"/>
          <p:cNvSpPr/>
          <p:nvPr/>
        </p:nvSpPr>
        <p:spPr>
          <a:xfrm>
            <a:off x="228600" y="2697480"/>
            <a:ext cx="548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77240" y="2697480"/>
            <a:ext cx="1645920" cy="530352"/>
          </a:xfrm>
          <a:prstGeom prst="rect">
            <a:avLst/>
          </a:prstGeom>
          <a:solidFill>
            <a:srgbClr val="2A9D8F">
              <a:alpha val="8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777240" y="2697480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423160" y="2697480"/>
            <a:ext cx="3200400" cy="530352"/>
          </a:xfrm>
          <a:prstGeom prst="rect">
            <a:avLst/>
          </a:prstGeom>
          <a:solidFill>
            <a:srgbClr val="ECEEF8"/>
          </a:solidFill>
        </p:spPr>
      </p:sp>
      <p:sp>
        <p:nvSpPr>
          <p:cNvPr id="33" name="Text 31"/>
          <p:cNvSpPr/>
          <p:nvPr/>
        </p:nvSpPr>
        <p:spPr>
          <a:xfrm>
            <a:off x="2514600" y="2697480"/>
            <a:ext cx="30175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TCP, UDP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23560" y="2697480"/>
            <a:ext cx="3291840" cy="530352"/>
          </a:xfrm>
          <a:prstGeom prst="rect">
            <a:avLst/>
          </a:prstGeom>
          <a:solidFill>
            <a:srgbClr val="F0F4FF"/>
          </a:solidFill>
        </p:spPr>
      </p:sp>
      <p:sp>
        <p:nvSpPr>
          <p:cNvPr id="35" name="Text 33"/>
          <p:cNvSpPr/>
          <p:nvPr/>
        </p:nvSpPr>
        <p:spPr>
          <a:xfrm>
            <a:off x="5715000" y="2697480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delivery, error control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28600" y="3291840"/>
            <a:ext cx="548640" cy="530352"/>
          </a:xfrm>
          <a:prstGeom prst="rect">
            <a:avLst/>
          </a:prstGeom>
          <a:solidFill>
            <a:srgbClr val="457B9D"/>
          </a:solidFill>
        </p:spPr>
      </p:sp>
      <p:sp>
        <p:nvSpPr>
          <p:cNvPr id="37" name="Text 35"/>
          <p:cNvSpPr/>
          <p:nvPr/>
        </p:nvSpPr>
        <p:spPr>
          <a:xfrm>
            <a:off x="228600" y="3291840"/>
            <a:ext cx="548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77240" y="3291840"/>
            <a:ext cx="1645920" cy="530352"/>
          </a:xfrm>
          <a:prstGeom prst="rect">
            <a:avLst/>
          </a:prstGeom>
          <a:solidFill>
            <a:srgbClr val="457B9D">
              <a:alpha val="8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777240" y="3291840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423160" y="3291840"/>
            <a:ext cx="3200400" cy="530352"/>
          </a:xfrm>
          <a:prstGeom prst="rect">
            <a:avLst/>
          </a:prstGeom>
          <a:solidFill>
            <a:srgbClr val="F5F7FF"/>
          </a:solidFill>
        </p:spPr>
      </p:sp>
      <p:sp>
        <p:nvSpPr>
          <p:cNvPr id="41" name="Text 39"/>
          <p:cNvSpPr/>
          <p:nvPr/>
        </p:nvSpPr>
        <p:spPr>
          <a:xfrm>
            <a:off x="2514600" y="3291840"/>
            <a:ext cx="30175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IP, ICMP, ARP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23560" y="3291840"/>
            <a:ext cx="3291840" cy="530352"/>
          </a:xfrm>
          <a:prstGeom prst="rect">
            <a:avLst/>
          </a:prstGeom>
          <a:solidFill>
            <a:srgbClr val="EAEEF8"/>
          </a:solidFill>
        </p:spPr>
      </p:sp>
      <p:sp>
        <p:nvSpPr>
          <p:cNvPr id="43" name="Text 41"/>
          <p:cNvSpPr/>
          <p:nvPr/>
        </p:nvSpPr>
        <p:spPr>
          <a:xfrm>
            <a:off x="5715000" y="3291840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Routing &amp; logical addressing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28600" y="3886200"/>
            <a:ext cx="548640" cy="530352"/>
          </a:xfrm>
          <a:prstGeom prst="rect">
            <a:avLst/>
          </a:prstGeom>
          <a:solidFill>
            <a:srgbClr val="1D3557"/>
          </a:solidFill>
        </p:spPr>
      </p:sp>
      <p:sp>
        <p:nvSpPr>
          <p:cNvPr id="45" name="Text 43"/>
          <p:cNvSpPr/>
          <p:nvPr/>
        </p:nvSpPr>
        <p:spPr>
          <a:xfrm>
            <a:off x="228600" y="3886200"/>
            <a:ext cx="548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777240" y="3886200"/>
            <a:ext cx="1645920" cy="530352"/>
          </a:xfrm>
          <a:prstGeom prst="rect">
            <a:avLst/>
          </a:prstGeom>
          <a:solidFill>
            <a:srgbClr val="1D3557">
              <a:alpha val="8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777240" y="3886200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Link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423160" y="3886200"/>
            <a:ext cx="3200400" cy="530352"/>
          </a:xfrm>
          <a:prstGeom prst="rect">
            <a:avLst/>
          </a:prstGeom>
          <a:solidFill>
            <a:srgbClr val="ECEEF8"/>
          </a:solidFill>
        </p:spPr>
      </p:sp>
      <p:sp>
        <p:nvSpPr>
          <p:cNvPr id="49" name="Text 47"/>
          <p:cNvSpPr/>
          <p:nvPr/>
        </p:nvSpPr>
        <p:spPr>
          <a:xfrm>
            <a:off x="2514600" y="3886200"/>
            <a:ext cx="30175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Ethernet, Wi-Fi (802.11)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623560" y="3886200"/>
            <a:ext cx="3291840" cy="530352"/>
          </a:xfrm>
          <a:prstGeom prst="rect">
            <a:avLst/>
          </a:prstGeom>
          <a:solidFill>
            <a:srgbClr val="F0F4FF"/>
          </a:solidFill>
        </p:spPr>
      </p:sp>
      <p:sp>
        <p:nvSpPr>
          <p:cNvPr id="51" name="Text 49"/>
          <p:cNvSpPr/>
          <p:nvPr/>
        </p:nvSpPr>
        <p:spPr>
          <a:xfrm>
            <a:off x="5715000" y="3886200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 addressing &amp; framing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28600" y="4480560"/>
            <a:ext cx="548640" cy="530352"/>
          </a:xfrm>
          <a:prstGeom prst="rect">
            <a:avLst/>
          </a:prstGeom>
          <a:solidFill>
            <a:srgbClr val="6A0572"/>
          </a:solidFill>
        </p:spPr>
      </p:sp>
      <p:sp>
        <p:nvSpPr>
          <p:cNvPr id="53" name="Text 51"/>
          <p:cNvSpPr/>
          <p:nvPr/>
        </p:nvSpPr>
        <p:spPr>
          <a:xfrm>
            <a:off x="228600" y="4480560"/>
            <a:ext cx="548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777240" y="4480560"/>
            <a:ext cx="1645920" cy="530352"/>
          </a:xfrm>
          <a:prstGeom prst="rect">
            <a:avLst/>
          </a:prstGeom>
          <a:solidFill>
            <a:srgbClr val="6A0572">
              <a:alpha val="80000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777240" y="4480560"/>
            <a:ext cx="1645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423160" y="4480560"/>
            <a:ext cx="3200400" cy="530352"/>
          </a:xfrm>
          <a:prstGeom prst="rect">
            <a:avLst/>
          </a:prstGeom>
          <a:solidFill>
            <a:srgbClr val="F5F7FF"/>
          </a:solidFill>
        </p:spPr>
      </p:sp>
      <p:sp>
        <p:nvSpPr>
          <p:cNvPr id="57" name="Text 55"/>
          <p:cNvSpPr/>
          <p:nvPr/>
        </p:nvSpPr>
        <p:spPr>
          <a:xfrm>
            <a:off x="2514600" y="4480560"/>
            <a:ext cx="30175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Cables, Hubs, Repeaters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623560" y="4480560"/>
            <a:ext cx="3291840" cy="530352"/>
          </a:xfrm>
          <a:prstGeom prst="rect">
            <a:avLst/>
          </a:prstGeom>
          <a:solidFill>
            <a:srgbClr val="EAEEF8"/>
          </a:solidFill>
        </p:spPr>
      </p:sp>
      <p:sp>
        <p:nvSpPr>
          <p:cNvPr id="59" name="Text 57"/>
          <p:cNvSpPr/>
          <p:nvPr/>
        </p:nvSpPr>
        <p:spPr>
          <a:xfrm>
            <a:off x="5715000" y="4480560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transmission over physical medium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228600" y="79552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77240" y="795528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Name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423160" y="795528"/>
            <a:ext cx="3200400" cy="18288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Protocols / Technologies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623560" y="795528"/>
            <a:ext cx="3291840" cy="18288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Summary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05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A0572"/>
          </a:solidFill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Layer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Networking Presentation  •  Danish Ali  (Group Leader)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A0572"/>
          </a:solidFill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1 — PHYSICAL LAYER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4864" cy="868680"/>
          </a:xfrm>
          <a:prstGeom prst="rect">
            <a:avLst/>
          </a:prstGeom>
          <a:solidFill>
            <a:srgbClr val="6A0572"/>
          </a:solidFill>
        </p:spPr>
      </p:sp>
      <p:sp>
        <p:nvSpPr>
          <p:cNvPr id="5" name="Text 3"/>
          <p:cNvSpPr/>
          <p:nvPr/>
        </p:nvSpPr>
        <p:spPr>
          <a:xfrm>
            <a:off x="457200" y="96012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0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Transmission Medium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930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Transmits raw bits (0s and 1s) over physical media such as copper cables, fiber optic, or wireless signals.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54864" cy="868680"/>
          </a:xfrm>
          <a:prstGeom prst="rect">
            <a:avLst/>
          </a:prstGeom>
          <a:solidFill>
            <a:srgbClr val="6A0572"/>
          </a:solidFill>
        </p:spPr>
      </p:sp>
      <p:sp>
        <p:nvSpPr>
          <p:cNvPr id="8" name="Text 6"/>
          <p:cNvSpPr/>
          <p:nvPr/>
        </p:nvSpPr>
        <p:spPr>
          <a:xfrm>
            <a:off x="457200" y="196596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0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Devices Involved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9514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Hubs, Repeaters, Cables (Twisted Pair, Coaxial, Fiber Optic), Modems, Network Interface Cards (NIC).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54864" cy="868680"/>
          </a:xfrm>
          <a:prstGeom prst="rect">
            <a:avLst/>
          </a:prstGeom>
          <a:solidFill>
            <a:srgbClr val="6A0572"/>
          </a:solidFill>
        </p:spPr>
      </p:sp>
      <p:sp>
        <p:nvSpPr>
          <p:cNvPr id="11" name="Text 9"/>
          <p:cNvSpPr/>
          <p:nvPr/>
        </p:nvSpPr>
        <p:spPr>
          <a:xfrm>
            <a:off x="457200" y="297180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0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Functions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0098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Bit rate control, synchronization, physical topology, transmission mode (Simplex / Half-Duplex / Full-Duplex).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977640"/>
            <a:ext cx="54864" cy="868680"/>
          </a:xfrm>
          <a:prstGeom prst="rect">
            <a:avLst/>
          </a:prstGeom>
          <a:solidFill>
            <a:srgbClr val="6A0572"/>
          </a:solidFill>
        </p:spPr>
      </p:sp>
      <p:sp>
        <p:nvSpPr>
          <p:cNvPr id="14" name="Text 12"/>
          <p:cNvSpPr/>
          <p:nvPr/>
        </p:nvSpPr>
        <p:spPr>
          <a:xfrm>
            <a:off x="457200" y="397764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05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30682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you plug an Ethernet cable into your laptop — that wire and the signal it carries is the Physical Layer.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3557"/>
          </a:solidFill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Link Layer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Networking Presentation  •  Saeed Husain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D3557"/>
          </a:solidFill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2 — DATA LINK LAYER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4864" cy="868680"/>
          </a:xfrm>
          <a:prstGeom prst="rect">
            <a:avLst/>
          </a:prstGeom>
          <a:solidFill>
            <a:srgbClr val="1D3557"/>
          </a:solidFill>
        </p:spPr>
      </p:sp>
      <p:sp>
        <p:nvSpPr>
          <p:cNvPr id="5" name="Text 3"/>
          <p:cNvSpPr/>
          <p:nvPr/>
        </p:nvSpPr>
        <p:spPr>
          <a:xfrm>
            <a:off x="457200" y="96012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35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Framing &amp; MAC Addressing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930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Packages raw bits into frames and assigns MAC (Media Access Control) addresses to uniquely identify devices on the same network.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54864" cy="868680"/>
          </a:xfrm>
          <a:prstGeom prst="rect">
            <a:avLst/>
          </a:prstGeom>
          <a:solidFill>
            <a:srgbClr val="1D3557"/>
          </a:solidFill>
        </p:spPr>
      </p:sp>
      <p:sp>
        <p:nvSpPr>
          <p:cNvPr id="8" name="Text 6"/>
          <p:cNvSpPr/>
          <p:nvPr/>
        </p:nvSpPr>
        <p:spPr>
          <a:xfrm>
            <a:off x="457200" y="196596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35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Sub-Layers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9514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LLC (Logical Link Control): Error detection &amp; flow control.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 (Media Access Control): Controls access to shared medium.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54864" cy="868680"/>
          </a:xfrm>
          <a:prstGeom prst="rect">
            <a:avLst/>
          </a:prstGeom>
          <a:solidFill>
            <a:srgbClr val="1D3557"/>
          </a:solidFill>
        </p:spPr>
      </p:sp>
      <p:sp>
        <p:nvSpPr>
          <p:cNvPr id="11" name="Text 9"/>
          <p:cNvSpPr/>
          <p:nvPr/>
        </p:nvSpPr>
        <p:spPr>
          <a:xfrm>
            <a:off x="457200" y="297180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35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Detection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0098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CRC (Cyclic Redundancy Check) to detect errors in transmitted frames.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977640"/>
            <a:ext cx="54864" cy="868680"/>
          </a:xfrm>
          <a:prstGeom prst="rect">
            <a:avLst/>
          </a:prstGeom>
          <a:solidFill>
            <a:srgbClr val="1D3557"/>
          </a:solidFill>
        </p:spPr>
      </p:sp>
      <p:sp>
        <p:nvSpPr>
          <p:cNvPr id="14" name="Text 12"/>
          <p:cNvSpPr/>
          <p:nvPr/>
        </p:nvSpPr>
        <p:spPr>
          <a:xfrm>
            <a:off x="457200" y="397764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35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30682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Wi-Fi router uses the Data Link Layer to identify your device via its MAC address (e.g., A4:C3:F0:85:AC:1D).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7B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57B9D"/>
          </a:solidFill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Layer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Networking Presentation  •  Saeed Husain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57B9D"/>
          </a:solidFill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3 — NETWORK LAYER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4864" cy="868680"/>
          </a:xfrm>
          <a:prstGeom prst="rect">
            <a:avLst/>
          </a:prstGeom>
          <a:solidFill>
            <a:srgbClr val="457B9D"/>
          </a:solidFill>
        </p:spPr>
      </p:sp>
      <p:sp>
        <p:nvSpPr>
          <p:cNvPr id="5" name="Text 3"/>
          <p:cNvSpPr/>
          <p:nvPr/>
        </p:nvSpPr>
        <p:spPr>
          <a:xfrm>
            <a:off x="457200" y="96012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57B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Routing &amp; Logical Addressing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930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Determines the best path for data to travel from source to destination across multiple networks using IP addresses.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54864" cy="868680"/>
          </a:xfrm>
          <a:prstGeom prst="rect">
            <a:avLst/>
          </a:prstGeom>
          <a:solidFill>
            <a:srgbClr val="457B9D"/>
          </a:solidFill>
        </p:spPr>
      </p:sp>
      <p:sp>
        <p:nvSpPr>
          <p:cNvPr id="8" name="Text 6"/>
          <p:cNvSpPr/>
          <p:nvPr/>
        </p:nvSpPr>
        <p:spPr>
          <a:xfrm>
            <a:off x="457200" y="196596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57B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Protocols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9514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(IPv4 / IPv6), ICMP (ping), ARP (Address Resolution Protocol), Routing Protocols: OSPF, BGP, RIP.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54864" cy="868680"/>
          </a:xfrm>
          <a:prstGeom prst="rect">
            <a:avLst/>
          </a:prstGeom>
          <a:solidFill>
            <a:srgbClr val="457B9D"/>
          </a:solidFill>
        </p:spPr>
      </p:sp>
      <p:sp>
        <p:nvSpPr>
          <p:cNvPr id="11" name="Text 9"/>
          <p:cNvSpPr/>
          <p:nvPr/>
        </p:nvSpPr>
        <p:spPr>
          <a:xfrm>
            <a:off x="457200" y="297180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57B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Packet Forwarding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0098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is broken into packets. Each router reads the destination IP and forwards the packet hop-by-hop to its destination.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977640"/>
            <a:ext cx="54864" cy="868680"/>
          </a:xfrm>
          <a:prstGeom prst="rect">
            <a:avLst/>
          </a:prstGeom>
          <a:solidFill>
            <a:srgbClr val="457B9D"/>
          </a:solidFill>
        </p:spPr>
      </p:sp>
      <p:sp>
        <p:nvSpPr>
          <p:cNvPr id="14" name="Text 12"/>
          <p:cNvSpPr/>
          <p:nvPr/>
        </p:nvSpPr>
        <p:spPr>
          <a:xfrm>
            <a:off x="457200" y="397764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57B9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30682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you visit google.com, your data travels through multiple routers worldwide — all managed by the Network Layer.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9D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9D8F"/>
          </a:solidFill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 Layer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Networking Presentation  •  M. Zeshan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A9D8F"/>
          </a:solidFill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4 — TRANSPORT LAYER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474720"/>
          </a:xfrm>
          <a:prstGeom prst="rect">
            <a:avLst/>
          </a:prstGeom>
          <a:solidFill>
            <a:srgbClr val="E8F8F7"/>
          </a:solidFill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2A9D8F"/>
          </a:solidFill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  (Transmission Control Protocol)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Connection-oriented (3-way handshake)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Reliable delivery — guaranteed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checking &amp; retransmission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Ordered packet delivery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Slower but more reliable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01752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6B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by: HTTP, HTTPS, FTP, Email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114800" cy="3474720"/>
          </a:xfrm>
          <a:prstGeom prst="rect">
            <a:avLst/>
          </a:prstGeom>
          <a:solidFill>
            <a:srgbClr val="FFF7EE"/>
          </a:solidFill>
        </p:spPr>
      </p:sp>
      <p:sp>
        <p:nvSpPr>
          <p:cNvPr id="14" name="Shape 12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E9C46A"/>
          </a:solidFill>
        </p:spPr>
      </p:sp>
      <p:sp>
        <p:nvSpPr>
          <p:cNvPr id="15" name="Text 13"/>
          <p:cNvSpPr/>
          <p:nvPr/>
        </p:nvSpPr>
        <p:spPr>
          <a:xfrm>
            <a:off x="4846320" y="91440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UDP  (User Datagram Protocol)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41732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5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Connectionless — no handshake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73736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5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guarantee of delivery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05740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5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retransmission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37744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5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Unordered delivery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69748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5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but less reliable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01752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A5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by: DNS, VoIP, Video Streaming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Port Numbers are assigned at this layer  (e.g., HTTP = 80, HTTPS = 443, FTP = 21)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C4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9C46A"/>
          </a:solidFill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Layer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Networking Presentation  •  M. Zeshan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4A017"/>
          </a:solidFill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5 — SESSION LAYER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4864" cy="868680"/>
          </a:xfrm>
          <a:prstGeom prst="rect">
            <a:avLst/>
          </a:prstGeom>
          <a:solidFill>
            <a:srgbClr val="D4A017"/>
          </a:solidFill>
        </p:spPr>
      </p:sp>
      <p:sp>
        <p:nvSpPr>
          <p:cNvPr id="5" name="Text 3"/>
          <p:cNvSpPr/>
          <p:nvPr/>
        </p:nvSpPr>
        <p:spPr>
          <a:xfrm>
            <a:off x="457200" y="96012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078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930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Establishes, maintains, and terminates communication sessions between two devices. Ensures data is organized as sessions.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54864" cy="868680"/>
          </a:xfrm>
          <a:prstGeom prst="rect">
            <a:avLst/>
          </a:prstGeom>
          <a:solidFill>
            <a:srgbClr val="D4A017"/>
          </a:solidFill>
        </p:spPr>
      </p:sp>
      <p:sp>
        <p:nvSpPr>
          <p:cNvPr id="8" name="Text 6"/>
          <p:cNvSpPr/>
          <p:nvPr/>
        </p:nvSpPr>
        <p:spPr>
          <a:xfrm>
            <a:off x="457200" y="196596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078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Synchronization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9514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Adds checkpoints (sync points) in data streams. If transmission fails, it resumes from the last checkpoint — not from the beginning.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54864" cy="868680"/>
          </a:xfrm>
          <a:prstGeom prst="rect">
            <a:avLst/>
          </a:prstGeom>
          <a:solidFill>
            <a:srgbClr val="D4A017"/>
          </a:solidFill>
        </p:spPr>
      </p:sp>
      <p:sp>
        <p:nvSpPr>
          <p:cNvPr id="11" name="Text 9"/>
          <p:cNvSpPr/>
          <p:nvPr/>
        </p:nvSpPr>
        <p:spPr>
          <a:xfrm>
            <a:off x="457200" y="297180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078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Dialog 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0098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Controls whether communication is: Simplex (one direction), Half-Duplex (one at a time), or Full-Duplex (both simultaneously).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977640"/>
            <a:ext cx="54864" cy="868680"/>
          </a:xfrm>
          <a:prstGeom prst="rect">
            <a:avLst/>
          </a:prstGeom>
          <a:solidFill>
            <a:srgbClr val="D4A017"/>
          </a:solidFill>
        </p:spPr>
      </p:sp>
      <p:sp>
        <p:nvSpPr>
          <p:cNvPr id="14" name="Text 12"/>
          <p:cNvSpPr/>
          <p:nvPr/>
        </p:nvSpPr>
        <p:spPr>
          <a:xfrm>
            <a:off x="457200" y="397764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078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30682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video call on Zoom — the Session Layer maintains your call session; if interrupted, it can reconnect without restarting the session.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A2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Layer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Networking Presentation  •  M. Bilal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7030"/>
          </a:solidFill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6 — PRESENTATION LAYER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4864" cy="868680"/>
          </a:xfrm>
          <a:prstGeom prst="rect">
            <a:avLst/>
          </a:prstGeom>
          <a:solidFill>
            <a:srgbClr val="C07030"/>
          </a:solidFill>
        </p:spPr>
      </p:sp>
      <p:sp>
        <p:nvSpPr>
          <p:cNvPr id="5" name="Text 3"/>
          <p:cNvSpPr/>
          <p:nvPr/>
        </p:nvSpPr>
        <p:spPr>
          <a:xfrm>
            <a:off x="457200" y="96012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7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Translation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930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Converts data between formats that the application and network layers can understand. Acts as a translator between systems.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54864" cy="868680"/>
          </a:xfrm>
          <a:prstGeom prst="rect">
            <a:avLst/>
          </a:prstGeom>
          <a:solidFill>
            <a:srgbClr val="C07030"/>
          </a:solidFill>
        </p:spPr>
      </p:sp>
      <p:sp>
        <p:nvSpPr>
          <p:cNvPr id="8" name="Text 6"/>
          <p:cNvSpPr/>
          <p:nvPr/>
        </p:nvSpPr>
        <p:spPr>
          <a:xfrm>
            <a:off x="457200" y="196596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7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9514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Encrypts data at the sender side and decrypts it at the receiver side. SSL/TLS operates at this layer to secure HTTPS traffic.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54864" cy="868680"/>
          </a:xfrm>
          <a:prstGeom prst="rect">
            <a:avLst/>
          </a:prstGeom>
          <a:solidFill>
            <a:srgbClr val="C07030"/>
          </a:solidFill>
        </p:spPr>
      </p:sp>
      <p:sp>
        <p:nvSpPr>
          <p:cNvPr id="11" name="Text 9"/>
          <p:cNvSpPr/>
          <p:nvPr/>
        </p:nvSpPr>
        <p:spPr>
          <a:xfrm>
            <a:off x="457200" y="297180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7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0098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 the size of data before transmission to save bandwidth. JPEG, MP3, and MPEG are examples of compressed formats used here.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977640"/>
            <a:ext cx="54864" cy="868680"/>
          </a:xfrm>
          <a:prstGeom prst="rect">
            <a:avLst/>
          </a:prstGeom>
          <a:solidFill>
            <a:srgbClr val="C07030"/>
          </a:solidFill>
        </p:spPr>
      </p:sp>
      <p:sp>
        <p:nvSpPr>
          <p:cNvPr id="14" name="Text 12"/>
          <p:cNvSpPr/>
          <p:nvPr/>
        </p:nvSpPr>
        <p:spPr>
          <a:xfrm>
            <a:off x="457200" y="3977640"/>
            <a:ext cx="8321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70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306824"/>
            <a:ext cx="8321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you access a secure website (https://), the Presentation Layer handles SSL/TLS encryption to protect your login data.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39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Layer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Networking Presentation  •  M. Bilal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202E"/>
          </a:solidFill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7 — APPLICATION LAYER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Closest to the end-user. Provides network services directly to user applications.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206240" cy="1051560"/>
          </a:xfrm>
          <a:prstGeom prst="rect">
            <a:avLst/>
          </a:prstGeom>
          <a:solidFill>
            <a:srgbClr val="FEF0F0"/>
          </a:solidFill>
        </p:spPr>
      </p:sp>
      <p:sp>
        <p:nvSpPr>
          <p:cNvPr id="6" name="Shape 4"/>
          <p:cNvSpPr/>
          <p:nvPr/>
        </p:nvSpPr>
        <p:spPr>
          <a:xfrm>
            <a:off x="274320" y="1325880"/>
            <a:ext cx="1188720" cy="1051560"/>
          </a:xfrm>
          <a:prstGeom prst="rect">
            <a:avLst/>
          </a:prstGeom>
          <a:solidFill>
            <a:srgbClr val="E63946">
              <a:alpha val="85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274320" y="1325880"/>
            <a:ext cx="1188720" cy="1051560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/ HTTPS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508760" y="1325880"/>
            <a:ext cx="2926080" cy="105156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browsing — requests &amp; responses between browser and server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206240" cy="1051560"/>
          </a:xfrm>
          <a:prstGeom prst="rect">
            <a:avLst/>
          </a:prstGeom>
          <a:solidFill>
            <a:srgbClr val="FFF5F5"/>
          </a:solidFill>
        </p:spPr>
      </p:sp>
      <p:sp>
        <p:nvSpPr>
          <p:cNvPr id="10" name="Shape 8"/>
          <p:cNvSpPr/>
          <p:nvPr/>
        </p:nvSpPr>
        <p:spPr>
          <a:xfrm>
            <a:off x="4709160" y="1325880"/>
            <a:ext cx="1188720" cy="1051560"/>
          </a:xfrm>
          <a:prstGeom prst="rect">
            <a:avLst/>
          </a:prstGeom>
          <a:solidFill>
            <a:srgbClr val="E63946">
              <a:alpha val="85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4709160" y="1325880"/>
            <a:ext cx="1188720" cy="1051560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FTP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0" y="1325880"/>
            <a:ext cx="2926080" cy="105156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Transfer Protocol — upload/download files to/from servers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4206240" cy="1051560"/>
          </a:xfrm>
          <a:prstGeom prst="rect">
            <a:avLst/>
          </a:prstGeom>
          <a:solidFill>
            <a:srgbClr val="FEF0F0"/>
          </a:solidFill>
        </p:spPr>
      </p:sp>
      <p:sp>
        <p:nvSpPr>
          <p:cNvPr id="14" name="Shape 12"/>
          <p:cNvSpPr/>
          <p:nvPr/>
        </p:nvSpPr>
        <p:spPr>
          <a:xfrm>
            <a:off x="274320" y="2514600"/>
            <a:ext cx="1188720" cy="1051560"/>
          </a:xfrm>
          <a:prstGeom prst="rect">
            <a:avLst/>
          </a:prstGeom>
          <a:solidFill>
            <a:srgbClr val="E63946">
              <a:alpha val="85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274320" y="2514600"/>
            <a:ext cx="1188720" cy="1051560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SMTP / POP3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508760" y="2514600"/>
            <a:ext cx="2926080" cy="105156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sending (SMTP) and receiving (POP3/IMAP) services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514600"/>
            <a:ext cx="4206240" cy="1051560"/>
          </a:xfrm>
          <a:prstGeom prst="rect">
            <a:avLst/>
          </a:prstGeom>
          <a:solidFill>
            <a:srgbClr val="FFF5F5"/>
          </a:solidFill>
        </p:spPr>
      </p:sp>
      <p:sp>
        <p:nvSpPr>
          <p:cNvPr id="18" name="Shape 16"/>
          <p:cNvSpPr/>
          <p:nvPr/>
        </p:nvSpPr>
        <p:spPr>
          <a:xfrm>
            <a:off x="4709160" y="2514600"/>
            <a:ext cx="1188720" cy="1051560"/>
          </a:xfrm>
          <a:prstGeom prst="rect">
            <a:avLst/>
          </a:prstGeom>
          <a:solidFill>
            <a:srgbClr val="E63946">
              <a:alpha val="85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4709160" y="2514600"/>
            <a:ext cx="1188720" cy="1051560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0" y="2514600"/>
            <a:ext cx="2926080" cy="105156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 Name System — translates domain names to IP addresses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4206240" cy="1051560"/>
          </a:xfrm>
          <a:prstGeom prst="rect">
            <a:avLst/>
          </a:prstGeom>
          <a:solidFill>
            <a:srgbClr val="FEF0F0"/>
          </a:solidFill>
        </p:spPr>
      </p:sp>
      <p:sp>
        <p:nvSpPr>
          <p:cNvPr id="22" name="Shape 20"/>
          <p:cNvSpPr/>
          <p:nvPr/>
        </p:nvSpPr>
        <p:spPr>
          <a:xfrm>
            <a:off x="274320" y="3703320"/>
            <a:ext cx="1188720" cy="1051560"/>
          </a:xfrm>
          <a:prstGeom prst="rect">
            <a:avLst/>
          </a:prstGeom>
          <a:solidFill>
            <a:srgbClr val="E63946">
              <a:alpha val="85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274320" y="3703320"/>
            <a:ext cx="1188720" cy="1051560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DHCP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508760" y="3703320"/>
            <a:ext cx="2926080" cy="105156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Host Configuration Protocol — assigns IP addresses automatically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703320"/>
            <a:ext cx="4206240" cy="1051560"/>
          </a:xfrm>
          <a:prstGeom prst="rect">
            <a:avLst/>
          </a:prstGeom>
          <a:solidFill>
            <a:srgbClr val="FFF5F5"/>
          </a:solidFill>
        </p:spPr>
      </p:sp>
      <p:sp>
        <p:nvSpPr>
          <p:cNvPr id="26" name="Shape 24"/>
          <p:cNvSpPr/>
          <p:nvPr/>
        </p:nvSpPr>
        <p:spPr>
          <a:xfrm>
            <a:off x="4709160" y="3703320"/>
            <a:ext cx="1188720" cy="1051560"/>
          </a:xfrm>
          <a:prstGeom prst="rect">
            <a:avLst/>
          </a:prstGeom>
          <a:solidFill>
            <a:srgbClr val="E63946">
              <a:alpha val="85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4709160" y="3703320"/>
            <a:ext cx="1188720" cy="1051560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SSH / Telnet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43600" y="3703320"/>
            <a:ext cx="2926080" cy="1051560"/>
          </a:xfrm>
          <a:prstGeom prst="rect">
            <a:avLst/>
          </a:prstGeom>
          <a:noFill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remote login to manage servers and network devices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★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OSI vs TCP/IP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Networking Presentation  •  Danyal Safdar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OSI MODEL vs TCP/IP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Danyal Safdar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84048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OSI Model  (7 Layers)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023360" cy="384048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8" name="Text 6"/>
          <p:cNvSpPr/>
          <p:nvPr/>
        </p:nvSpPr>
        <p:spPr>
          <a:xfrm>
            <a:off x="4846320" y="100584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TCP/IP Model  (4 Layers)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4023360" cy="457200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10" name="Text 8"/>
          <p:cNvSpPr/>
          <p:nvPr/>
        </p:nvSpPr>
        <p:spPr>
          <a:xfrm>
            <a:off x="274320" y="14630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Application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4023360" cy="457200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12" name="Text 10"/>
          <p:cNvSpPr/>
          <p:nvPr/>
        </p:nvSpPr>
        <p:spPr>
          <a:xfrm>
            <a:off x="274320" y="196596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Presentation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4023360" cy="457200"/>
          </a:xfrm>
          <a:prstGeom prst="rect">
            <a:avLst/>
          </a:prstGeom>
          <a:solidFill>
            <a:srgbClr val="E9C46A"/>
          </a:solidFill>
        </p:spPr>
      </p:sp>
      <p:sp>
        <p:nvSpPr>
          <p:cNvPr id="14" name="Text 12"/>
          <p:cNvSpPr/>
          <p:nvPr/>
        </p:nvSpPr>
        <p:spPr>
          <a:xfrm>
            <a:off x="274320" y="24688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Session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023360" cy="457200"/>
          </a:xfrm>
          <a:prstGeom prst="rect">
            <a:avLst/>
          </a:prstGeom>
          <a:solidFill>
            <a:srgbClr val="2A9D8F"/>
          </a:solidFill>
        </p:spPr>
      </p:sp>
      <p:sp>
        <p:nvSpPr>
          <p:cNvPr id="16" name="Text 14"/>
          <p:cNvSpPr/>
          <p:nvPr/>
        </p:nvSpPr>
        <p:spPr>
          <a:xfrm>
            <a:off x="274320" y="29718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Transport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474720"/>
            <a:ext cx="4023360" cy="457200"/>
          </a:xfrm>
          <a:prstGeom prst="rect">
            <a:avLst/>
          </a:prstGeom>
          <a:solidFill>
            <a:srgbClr val="457B9D"/>
          </a:solidFill>
        </p:spPr>
      </p:sp>
      <p:sp>
        <p:nvSpPr>
          <p:cNvPr id="18" name="Text 16"/>
          <p:cNvSpPr/>
          <p:nvPr/>
        </p:nvSpPr>
        <p:spPr>
          <a:xfrm>
            <a:off x="274320" y="347472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Network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4023360" cy="457200"/>
          </a:xfrm>
          <a:prstGeom prst="rect">
            <a:avLst/>
          </a:prstGeom>
          <a:solidFill>
            <a:srgbClr val="1D3557"/>
          </a:solidFill>
        </p:spPr>
      </p:sp>
      <p:sp>
        <p:nvSpPr>
          <p:cNvPr id="20" name="Text 18"/>
          <p:cNvSpPr/>
          <p:nvPr/>
        </p:nvSpPr>
        <p:spPr>
          <a:xfrm>
            <a:off x="274320" y="39776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Data Link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480560"/>
            <a:ext cx="4023360" cy="457200"/>
          </a:xfrm>
          <a:prstGeom prst="rect">
            <a:avLst/>
          </a:prstGeom>
          <a:solidFill>
            <a:srgbClr val="6A0572"/>
          </a:solidFill>
        </p:spPr>
      </p:sp>
      <p:sp>
        <p:nvSpPr>
          <p:cNvPr id="22" name="Text 20"/>
          <p:cNvSpPr/>
          <p:nvPr/>
        </p:nvSpPr>
        <p:spPr>
          <a:xfrm>
            <a:off x="274320" y="448056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Physical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1463040"/>
            <a:ext cx="4023360" cy="1472184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24" name="Text 22"/>
          <p:cNvSpPr/>
          <p:nvPr/>
        </p:nvSpPr>
        <p:spPr>
          <a:xfrm>
            <a:off x="4846320" y="1463040"/>
            <a:ext cx="4023360" cy="1472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971800"/>
            <a:ext cx="4023360" cy="466344"/>
          </a:xfrm>
          <a:prstGeom prst="rect">
            <a:avLst/>
          </a:prstGeom>
          <a:solidFill>
            <a:srgbClr val="2A9D8F"/>
          </a:solidFill>
        </p:spPr>
      </p:sp>
      <p:sp>
        <p:nvSpPr>
          <p:cNvPr id="26" name="Text 24"/>
          <p:cNvSpPr/>
          <p:nvPr/>
        </p:nvSpPr>
        <p:spPr>
          <a:xfrm>
            <a:off x="4846320" y="2971800"/>
            <a:ext cx="4023360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474720"/>
            <a:ext cx="4023360" cy="466344"/>
          </a:xfrm>
          <a:prstGeom prst="rect">
            <a:avLst/>
          </a:prstGeom>
          <a:solidFill>
            <a:srgbClr val="457B9D"/>
          </a:solidFill>
        </p:spPr>
      </p:sp>
      <p:sp>
        <p:nvSpPr>
          <p:cNvPr id="28" name="Text 26"/>
          <p:cNvSpPr/>
          <p:nvPr/>
        </p:nvSpPr>
        <p:spPr>
          <a:xfrm>
            <a:off x="4846320" y="3474720"/>
            <a:ext cx="4023360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977640"/>
            <a:ext cx="4023360" cy="969264"/>
          </a:xfrm>
          <a:prstGeom prst="rect">
            <a:avLst/>
          </a:prstGeom>
          <a:solidFill>
            <a:srgbClr val="1D3557"/>
          </a:solidFill>
        </p:spPr>
      </p:sp>
      <p:sp>
        <p:nvSpPr>
          <p:cNvPr id="30" name="Text 28"/>
          <p:cNvSpPr/>
          <p:nvPr/>
        </p:nvSpPr>
        <p:spPr>
          <a:xfrm>
            <a:off x="4846320" y="3977640"/>
            <a:ext cx="4023360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Access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4800600"/>
            <a:ext cx="8595360" cy="201168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2" name="Text 30"/>
          <p:cNvSpPr/>
          <p:nvPr/>
        </p:nvSpPr>
        <p:spPr>
          <a:xfrm>
            <a:off x="274320" y="480060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36392" y="480060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OSI Model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98464" y="480060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TCP/IP Model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5C842"/>
          </a:solidFill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400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 from OSI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457200" cy="475488"/>
          </a:xfrm>
          <a:prstGeom prst="rect">
            <a:avLst/>
          </a:prstGeom>
          <a:solidFill>
            <a:srgbClr val="6A0572"/>
          </a:solidFill>
        </p:spPr>
      </p:sp>
      <p:sp>
        <p:nvSpPr>
          <p:cNvPr id="6" name="Text 4"/>
          <p:cNvSpPr/>
          <p:nvPr/>
        </p:nvSpPr>
        <p:spPr>
          <a:xfrm>
            <a:off x="640080" y="1188720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1188720"/>
            <a:ext cx="1463040" cy="475488"/>
          </a:xfrm>
          <a:prstGeom prst="rect">
            <a:avLst/>
          </a:prstGeom>
          <a:solidFill>
            <a:srgbClr val="6A0572">
              <a:alpha val="7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097280" y="1188720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1188720"/>
            <a:ext cx="6217920" cy="475488"/>
          </a:xfrm>
          <a:prstGeom prst="rect">
            <a:avLst/>
          </a:prstGeom>
          <a:noFill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Transmits raw bits — cables, hubs, signals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457200" cy="475488"/>
          </a:xfrm>
          <a:prstGeom prst="rect">
            <a:avLst/>
          </a:prstGeom>
          <a:solidFill>
            <a:srgbClr val="1D3557"/>
          </a:solidFill>
        </p:spPr>
      </p:sp>
      <p:sp>
        <p:nvSpPr>
          <p:cNvPr id="11" name="Text 9"/>
          <p:cNvSpPr/>
          <p:nvPr/>
        </p:nvSpPr>
        <p:spPr>
          <a:xfrm>
            <a:off x="640080" y="1737360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1737360"/>
            <a:ext cx="1463040" cy="475488"/>
          </a:xfrm>
          <a:prstGeom prst="rect">
            <a:avLst/>
          </a:prstGeom>
          <a:solidFill>
            <a:srgbClr val="1D3557">
              <a:alpha val="7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1097280" y="1737360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Link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1737360"/>
            <a:ext cx="6217920" cy="475488"/>
          </a:xfrm>
          <a:prstGeom prst="rect">
            <a:avLst/>
          </a:prstGeom>
          <a:noFill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Frames + MAC addressing — Ethernet, Wi-Fi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2286000"/>
            <a:ext cx="457200" cy="475488"/>
          </a:xfrm>
          <a:prstGeom prst="rect">
            <a:avLst/>
          </a:prstGeom>
          <a:solidFill>
            <a:srgbClr val="457B9D"/>
          </a:solidFill>
        </p:spPr>
      </p:sp>
      <p:sp>
        <p:nvSpPr>
          <p:cNvPr id="16" name="Text 14"/>
          <p:cNvSpPr/>
          <p:nvPr/>
        </p:nvSpPr>
        <p:spPr>
          <a:xfrm>
            <a:off x="640080" y="2286000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2286000"/>
            <a:ext cx="1463040" cy="475488"/>
          </a:xfrm>
          <a:prstGeom prst="rect">
            <a:avLst/>
          </a:prstGeom>
          <a:solidFill>
            <a:srgbClr val="457B9D">
              <a:alpha val="7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1097280" y="2286000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2286000"/>
            <a:ext cx="6217920" cy="475488"/>
          </a:xfrm>
          <a:prstGeom prst="rect">
            <a:avLst/>
          </a:prstGeom>
          <a:noFill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routing across networks — routers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2834640"/>
            <a:ext cx="457200" cy="475488"/>
          </a:xfrm>
          <a:prstGeom prst="rect">
            <a:avLst/>
          </a:prstGeom>
          <a:solidFill>
            <a:srgbClr val="2A9D8F"/>
          </a:solidFill>
        </p:spPr>
      </p:sp>
      <p:sp>
        <p:nvSpPr>
          <p:cNvPr id="21" name="Text 19"/>
          <p:cNvSpPr/>
          <p:nvPr/>
        </p:nvSpPr>
        <p:spPr>
          <a:xfrm>
            <a:off x="640080" y="2834640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97280" y="2834640"/>
            <a:ext cx="1463040" cy="475488"/>
          </a:xfrm>
          <a:prstGeom prst="rect">
            <a:avLst/>
          </a:prstGeom>
          <a:solidFill>
            <a:srgbClr val="2A9D8F">
              <a:alpha val="70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1097280" y="2834640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2834640"/>
            <a:ext cx="6217920" cy="475488"/>
          </a:xfrm>
          <a:prstGeom prst="rect">
            <a:avLst/>
          </a:prstGeom>
          <a:noFill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delivery — TCP (reliable) / UDP (fast)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3383280"/>
            <a:ext cx="457200" cy="475488"/>
          </a:xfrm>
          <a:prstGeom prst="rect">
            <a:avLst/>
          </a:prstGeom>
          <a:solidFill>
            <a:srgbClr val="D4A017"/>
          </a:solidFill>
        </p:spPr>
      </p:sp>
      <p:sp>
        <p:nvSpPr>
          <p:cNvPr id="26" name="Text 24"/>
          <p:cNvSpPr/>
          <p:nvPr/>
        </p:nvSpPr>
        <p:spPr>
          <a:xfrm>
            <a:off x="640080" y="3383280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97280" y="3383280"/>
            <a:ext cx="1463040" cy="475488"/>
          </a:xfrm>
          <a:prstGeom prst="rect">
            <a:avLst/>
          </a:prstGeom>
          <a:solidFill>
            <a:srgbClr val="D4A017">
              <a:alpha val="7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1097280" y="3383280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51760" y="3383280"/>
            <a:ext cx="6217920" cy="475488"/>
          </a:xfrm>
          <a:prstGeom prst="rect">
            <a:avLst/>
          </a:prstGeom>
          <a:noFill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sessions with checkpoints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3931920"/>
            <a:ext cx="457200" cy="475488"/>
          </a:xfrm>
          <a:prstGeom prst="rect">
            <a:avLst/>
          </a:prstGeom>
          <a:solidFill>
            <a:srgbClr val="C07030"/>
          </a:solidFill>
        </p:spPr>
      </p:sp>
      <p:sp>
        <p:nvSpPr>
          <p:cNvPr id="31" name="Text 29"/>
          <p:cNvSpPr/>
          <p:nvPr/>
        </p:nvSpPr>
        <p:spPr>
          <a:xfrm>
            <a:off x="640080" y="3931920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97280" y="3931920"/>
            <a:ext cx="1463040" cy="475488"/>
          </a:xfrm>
          <a:prstGeom prst="rect">
            <a:avLst/>
          </a:prstGeom>
          <a:solidFill>
            <a:srgbClr val="C07030">
              <a:alpha val="7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1097280" y="3931920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51760" y="3931920"/>
            <a:ext cx="6217920" cy="475488"/>
          </a:xfrm>
          <a:prstGeom prst="rect">
            <a:avLst/>
          </a:prstGeom>
          <a:noFill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Translates, encrypts, compresses data (SSL/TLS)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4480560"/>
            <a:ext cx="457200" cy="475488"/>
          </a:xfrm>
          <a:prstGeom prst="rect">
            <a:avLst/>
          </a:prstGeom>
          <a:solidFill>
            <a:srgbClr val="E63946"/>
          </a:solidFill>
        </p:spPr>
      </p:sp>
      <p:sp>
        <p:nvSpPr>
          <p:cNvPr id="36" name="Text 34"/>
          <p:cNvSpPr/>
          <p:nvPr/>
        </p:nvSpPr>
        <p:spPr>
          <a:xfrm>
            <a:off x="640080" y="4480560"/>
            <a:ext cx="457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L7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97280" y="4480560"/>
            <a:ext cx="1463040" cy="475488"/>
          </a:xfrm>
          <a:prstGeom prst="rect">
            <a:avLst/>
          </a:prstGeom>
          <a:solidFill>
            <a:srgbClr val="E63946">
              <a:alpha val="70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1097280" y="4480560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651760" y="4480560"/>
            <a:ext cx="6217920" cy="475488"/>
          </a:xfrm>
          <a:prstGeom prst="rect">
            <a:avLst/>
          </a:prstGeom>
          <a:noFill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User-facing: HTTP, FTP, DNS, SMTP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" y="4892040"/>
            <a:ext cx="8321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Mnemonic: "Please Do Not Throw Sausage Pizza Away"  (L1 → L7)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41B47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4FF"/>
          </a:solidFill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500" dirty="0">
                <a:solidFill>
                  <a:srgbClr val="00C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OSI Model in Computer Networking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20040" cy="457200"/>
          </a:xfrm>
          <a:prstGeom prst="rect">
            <a:avLst/>
          </a:prstGeom>
          <a:solidFill>
            <a:srgbClr val="00C4FF"/>
          </a:solidFill>
        </p:spPr>
      </p:sp>
      <p:sp>
        <p:nvSpPr>
          <p:cNvPr id="7" name="Text 5"/>
          <p:cNvSpPr/>
          <p:nvPr/>
        </p:nvSpPr>
        <p:spPr>
          <a:xfrm>
            <a:off x="457200" y="146304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14630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OSI Model provides a universal framework for understanding how networks function at each level.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20040" cy="457200"/>
          </a:xfrm>
          <a:prstGeom prst="rect">
            <a:avLst/>
          </a:prstGeom>
          <a:solidFill>
            <a:srgbClr val="00C4FF"/>
          </a:solidFill>
        </p:spPr>
      </p:sp>
      <p:sp>
        <p:nvSpPr>
          <p:cNvPr id="10" name="Text 8"/>
          <p:cNvSpPr/>
          <p:nvPr/>
        </p:nvSpPr>
        <p:spPr>
          <a:xfrm>
            <a:off x="457200" y="214884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21488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separates network functions into 7 manageable layers, making troubleshooting easier and more systematic.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20040" cy="457200"/>
          </a:xfrm>
          <a:prstGeom prst="rect">
            <a:avLst/>
          </a:prstGeom>
          <a:solidFill>
            <a:srgbClr val="00C4FF"/>
          </a:solidFill>
        </p:spPr>
      </p:sp>
      <p:sp>
        <p:nvSpPr>
          <p:cNvPr id="13" name="Text 11"/>
          <p:cNvSpPr/>
          <p:nvPr/>
        </p:nvSpPr>
        <p:spPr>
          <a:xfrm>
            <a:off x="457200" y="283464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6968" y="28346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layer has a specific role — from hardware signals (Physical) to user applications (Application).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320040" cy="457200"/>
          </a:xfrm>
          <a:prstGeom prst="rect">
            <a:avLst/>
          </a:prstGeom>
          <a:solidFill>
            <a:srgbClr val="00C4FF"/>
          </a:solidFill>
        </p:spPr>
      </p:sp>
      <p:sp>
        <p:nvSpPr>
          <p:cNvPr id="16" name="Text 14"/>
          <p:cNvSpPr/>
          <p:nvPr/>
        </p:nvSpPr>
        <p:spPr>
          <a:xfrm>
            <a:off x="457200" y="352044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" y="3520440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OSI is fundamental to networking, cybersecurity, and software engineering careers.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Computer Science  •  Subject: Computer Networking  •  Academic Year 2024–25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4FF"/>
          </a:solidFill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4FF"/>
          </a:solidFill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800" dirty="0">
                <a:solidFill>
                  <a:srgbClr val="00C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your attention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423160"/>
            <a:ext cx="4572000" cy="36576"/>
          </a:xfrm>
          <a:prstGeom prst="rect">
            <a:avLst/>
          </a:prstGeom>
          <a:solidFill>
            <a:srgbClr val="F5C842"/>
          </a:solidFill>
        </p:spPr>
      </p:sp>
      <p:sp>
        <p:nvSpPr>
          <p:cNvPr id="7" name="Text 5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Danish Ali  (Group Leader)  |  Saeed Husain  |  M. Zeshan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 Bilal  |  Danyal Safdar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Subject: Computer Networking  •  Department of Computer Science  •  2024–28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7663</Words>
  <Application>WPS Presentation</Application>
  <PresentationFormat>On-screen Show (16:9)</PresentationFormat>
  <Paragraphs>485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OSI Model in Computer Networking</dc:title>
  <dc:creator>Danish Ali</dc:creator>
  <dc:subject>PptxGenJS Presentation</dc:subject>
  <cp:lastModifiedBy>Danish Ali Sahu</cp:lastModifiedBy>
  <cp:revision>2</cp:revision>
  <dcterms:created xsi:type="dcterms:W3CDTF">2026-05-02T18:17:00Z</dcterms:created>
  <dcterms:modified xsi:type="dcterms:W3CDTF">2026-05-02T18:20:29Z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79B2D32375A44E0BABEE03D670E2A574_13</vt:lpwstr>
  </property>
  <property fmtid="{D5CDD505-2E9C-101B-9397-08002B2CF9AE}" pid="3" name="KSOProductBuildVer">
    <vt:lpwstr>1033-12.1.0.25862</vt:lpwstr>
  </property>
</Properties>
</file>